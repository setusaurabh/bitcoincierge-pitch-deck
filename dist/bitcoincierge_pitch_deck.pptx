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jpeg"/><Relationship Id="rId3" Type="http://schemas.openxmlformats.org/officeDocument/2006/relationships/image" Target="../media/image-8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2652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0"/>
            <a:ext cx="8046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or planning</a:t>
            </a:r>
            <a:endParaRPr lang="en-US" sz="5600" dirty="0"/>
          </a:p>
          <a:p>
            <a:pPr algn="l" indent="0" marL="0">
              <a:buNone/>
            </a:pPr>
            <a:r>
              <a:rPr lang="en-US" sz="56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Bitcoin startup?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🙋</a:t>
            </a:r>
            <a:endParaRPr lang="en-US" sz="9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8C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O N G R A T U L A T I O N S .   Y O U   C H O S E . . 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HARDEST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274320" y="1920240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265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BOSS BATTLE.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457200" y="3337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Level: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566160" y="3749040"/>
            <a:ext cx="2011680" cy="256032"/>
          </a:xfrm>
          <a:prstGeom prst="rect">
            <a:avLst/>
          </a:prstGeom>
          <a:solidFill>
            <a:srgbClr val="F26522"/>
          </a:solidFill>
          <a:ln/>
        </p:spPr>
      </p:sp>
      <p:sp>
        <p:nvSpPr>
          <p:cNvPr id="8" name="Text 6"/>
          <p:cNvSpPr/>
          <p:nvPr/>
        </p:nvSpPr>
        <p:spPr>
          <a:xfrm>
            <a:off x="3566160" y="37490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500%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274320"/>
            <a:ext cx="4572000" cy="3840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206240"/>
            <a:ext cx="9144000" cy="91440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1097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EX-BITCOINER PROBLEM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42519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Came for the bull. Went back during the bear.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274320"/>
            <a:ext cx="5852160" cy="4206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731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NORMIE PROBLEM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0" y="4526280"/>
            <a:ext cx="914400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45720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other 1.4 billion Indians? They've never thought about Bitcoin. Not once.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265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A R K E T I N G   C H A N N E L   1   /   3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Want to run Bitcoin ads?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645920" y="1234440"/>
            <a:ext cx="5852160" cy="1417320"/>
          </a:xfrm>
          <a:prstGeom prst="rect">
            <a:avLst/>
          </a:prstGeom>
          <a:solidFill>
            <a:srgbClr val="FCE8D5"/>
          </a:solidFill>
          <a:ln w="635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0" y="1234440"/>
            <a:ext cx="5852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REJECTED.</a:t>
            </a:r>
            <a:endParaRPr lang="en-US" sz="7200" dirty="0"/>
          </a:p>
        </p:txBody>
      </p:sp>
      <p:sp>
        <p:nvSpPr>
          <p:cNvPr id="7" name="Shape 5"/>
          <p:cNvSpPr/>
          <p:nvPr/>
        </p:nvSpPr>
        <p:spPr>
          <a:xfrm>
            <a:off x="365760" y="2743200"/>
            <a:ext cx="2697480" cy="2103120"/>
          </a:xfrm>
          <a:prstGeom prst="rect">
            <a:avLst/>
          </a:prstGeom>
          <a:solidFill>
            <a:srgbClr val="FCE8D5"/>
          </a:solidFill>
          <a:ln w="12700">
            <a:solidFill>
              <a:srgbClr val="F5C4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2743200"/>
            <a:ext cx="2697480" cy="502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83464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4285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502920" y="37033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40690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advertising requires certification &amp; ongoing compliance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00400" y="2743200"/>
            <a:ext cx="2697480" cy="2103120"/>
          </a:xfrm>
          <a:prstGeom prst="rect">
            <a:avLst/>
          </a:prstGeom>
          <a:solidFill>
            <a:srgbClr val="FCE8D5"/>
          </a:solidFill>
          <a:ln w="12700">
            <a:solidFill>
              <a:srgbClr val="F5C49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2743200"/>
            <a:ext cx="2697480" cy="502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4" name="Text 12"/>
          <p:cNvSpPr/>
          <p:nvPr/>
        </p:nvSpPr>
        <p:spPr>
          <a:xfrm>
            <a:off x="3337560" y="283464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82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3337560" y="37033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/ Instagram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37560" y="40690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ads require prior written permission. Often denied.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035040" y="2743200"/>
            <a:ext cx="2697480" cy="2103120"/>
          </a:xfrm>
          <a:prstGeom prst="rect">
            <a:avLst/>
          </a:prstGeom>
          <a:solidFill>
            <a:srgbClr val="FCE8D5"/>
          </a:solidFill>
          <a:ln w="12700">
            <a:solidFill>
              <a:srgbClr val="F5C49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35040" y="2743200"/>
            <a:ext cx="2697480" cy="502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7"/>
          <p:cNvSpPr/>
          <p:nvPr/>
        </p:nvSpPr>
        <p:spPr>
          <a:xfrm>
            <a:off x="6172200" y="283464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𝕏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6172200" y="37033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Twitter / X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72200" y="40690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 but requires financial services certification per market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265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A R K E T I N G   C H A N N E L   2   /   3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 organic? 📱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2697480" cy="3200400"/>
          </a:xfrm>
          <a:prstGeom prst="rect">
            <a:avLst/>
          </a:prstGeom>
          <a:solidFill>
            <a:srgbClr val="FCE8D5"/>
          </a:solidFill>
          <a:ln w="12700">
            <a:solidFill>
              <a:srgbClr val="F5C4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25880"/>
            <a:ext cx="2697480" cy="502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46304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🫥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457200" y="288036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Banning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200400" y="1325880"/>
            <a:ext cx="2697480" cy="3200400"/>
          </a:xfrm>
          <a:prstGeom prst="rect">
            <a:avLst/>
          </a:prstGeom>
          <a:solidFill>
            <a:srgbClr val="FCE8D5"/>
          </a:solidFill>
          <a:ln w="12700">
            <a:solidFill>
              <a:srgbClr val="F5C49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1325880"/>
            <a:ext cx="2697480" cy="502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146304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3291840" y="288036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Slop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035040" y="1325880"/>
            <a:ext cx="2697480" cy="3200400"/>
          </a:xfrm>
          <a:prstGeom prst="rect">
            <a:avLst/>
          </a:prstGeom>
          <a:solidFill>
            <a:srgbClr val="FCE8D5"/>
          </a:solidFill>
          <a:ln w="12700">
            <a:solidFill>
              <a:srgbClr val="F5C49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1325880"/>
            <a:ext cx="2697480" cy="502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146304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😮‍💨</a:t>
            </a:r>
            <a:endParaRPr lang="en-US" sz="6000" dirty="0"/>
          </a:p>
        </p:txBody>
      </p:sp>
      <p:sp>
        <p:nvSpPr>
          <p:cNvPr id="16" name="Text 14"/>
          <p:cNvSpPr/>
          <p:nvPr/>
        </p:nvSpPr>
        <p:spPr>
          <a:xfrm>
            <a:off x="6126480" y="288036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Fatigue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265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A R K E T I N G   C H A N N E L   3   /   3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 to play? 💸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4206240" cy="3337560"/>
          </a:xfrm>
          <a:prstGeom prst="rect">
            <a:avLst/>
          </a:prstGeom>
          <a:solidFill>
            <a:srgbClr val="FCE8D5"/>
          </a:solidFill>
          <a:ln w="12700">
            <a:solidFill>
              <a:srgbClr val="F5C4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98448"/>
            <a:ext cx="4206240" cy="502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46304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🎙️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217627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Conference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60604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F265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10,000+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85800" y="32735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3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sponsor a booth/stall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800" y="35844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C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Prague 2026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85800" y="3913632"/>
            <a:ext cx="3749040" cy="45720"/>
          </a:xfrm>
          <a:prstGeom prst="rect">
            <a:avLst/>
          </a:prstGeom>
          <a:solidFill>
            <a:srgbClr val="FDDAB5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402336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Coinbase. Not for your seed-stage startup.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92040" y="1298448"/>
            <a:ext cx="4206240" cy="3337560"/>
          </a:xfrm>
          <a:prstGeom prst="rect">
            <a:avLst/>
          </a:prstGeom>
          <a:solidFill>
            <a:srgbClr val="FCE8D5"/>
          </a:solidFill>
          <a:ln w="12700">
            <a:solidFill>
              <a:srgbClr val="F5C49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92040" y="1298448"/>
            <a:ext cx="4206240" cy="502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6" name="Text 14"/>
          <p:cNvSpPr/>
          <p:nvPr/>
        </p:nvSpPr>
        <p:spPr>
          <a:xfrm>
            <a:off x="5120640" y="146304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5120640" y="217627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Influencer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120640" y="260604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F265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₹5L – ₹25L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5120640" y="32735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3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campaign, per creator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120640" y="35844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C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Indian Bitcoin creators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120640" y="3913632"/>
            <a:ext cx="3749040" cy="45720"/>
          </a:xfrm>
          <a:prstGeom prst="rect">
            <a:avLst/>
          </a:prstGeom>
          <a:solidFill>
            <a:srgbClr val="FDDAB5"/>
          </a:solidFill>
          <a:ln/>
        </p:spPr>
      </p:sp>
      <p:sp>
        <p:nvSpPr>
          <p:cNvPr id="22" name="Text 20"/>
          <p:cNvSpPr/>
          <p:nvPr/>
        </p:nvSpPr>
        <p:spPr>
          <a:xfrm>
            <a:off x="5120640" y="402336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guaranteed conversion. No attribution. No retargeting.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U R R E N T   W O R K A R O U N D S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411480" y="475488"/>
            <a:ext cx="50292" cy="1005840"/>
          </a:xfrm>
          <a:prstGeom prst="rect">
            <a:avLst/>
          </a:prstGeom>
          <a:solidFill>
            <a:srgbClr val="F26522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475488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founders already</a:t>
            </a:r>
            <a:endParaRPr lang="en-US" sz="3000" dirty="0"/>
          </a:p>
          <a:p>
            <a:pPr algn="l" indent="0" marL="0">
              <a:buNone/>
            </a:pPr>
            <a:r>
              <a:rPr lang="en-US" sz="30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figured it out.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645920"/>
            <a:ext cx="274320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645920"/>
            <a:ext cx="2743200" cy="50292"/>
          </a:xfrm>
          <a:prstGeom prst="rect">
            <a:avLst/>
          </a:prstGeom>
          <a:solidFill>
            <a:srgbClr val="F2652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43000" y="1783080"/>
            <a:ext cx="1188720" cy="11887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30175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B4I Community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02920" y="33832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powers  ↓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02920" y="3703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Keeper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91840" y="1645920"/>
            <a:ext cx="274320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91840" y="1645920"/>
            <a:ext cx="2743200" cy="50292"/>
          </a:xfrm>
          <a:prstGeom prst="rect">
            <a:avLst/>
          </a:prstGeom>
          <a:solidFill>
            <a:srgbClr val="F2652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069080" y="1783080"/>
            <a:ext cx="1188720" cy="11887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29000" y="30175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Bharat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3429000" y="33832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powers  ↓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3429000" y="3703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SwapSo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217920" y="1645920"/>
            <a:ext cx="274320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217920" y="1645920"/>
            <a:ext cx="2743200" cy="50292"/>
          </a:xfrm>
          <a:prstGeom prst="rect">
            <a:avLst/>
          </a:prstGeom>
          <a:solidFill>
            <a:srgbClr val="F26522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995160" y="1783080"/>
            <a:ext cx="1188720" cy="11887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55080" y="30175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Bitcoinwaale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6355080" y="33832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powers  ↓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6355080" y="3703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GetBit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FFF7F0"/>
          </a:solidFill>
          <a:ln/>
        </p:spPr>
      </p:sp>
      <p:sp>
        <p:nvSpPr>
          <p:cNvPr id="24" name="Text 19"/>
          <p:cNvSpPr/>
          <p:nvPr/>
        </p:nvSpPr>
        <p:spPr>
          <a:xfrm>
            <a:off x="457200" y="4992624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C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bitcoincierge.in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U T   T H I S   M O D E L   H A S   P R O B L E M S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411480" y="475488"/>
            <a:ext cx="50292" cy="1005840"/>
          </a:xfrm>
          <a:prstGeom prst="rect">
            <a:avLst/>
          </a:prstGeom>
          <a:solidFill>
            <a:srgbClr val="F26522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475488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your own community</a:t>
            </a:r>
            <a:endParaRPr lang="en-US" sz="3000" dirty="0"/>
          </a:p>
          <a:p>
            <a:pPr algn="l" indent="0" marL="0">
              <a:buNone/>
            </a:pPr>
            <a:r>
              <a:rPr lang="en-US" sz="30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breaks at scale.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416052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91640"/>
            <a:ext cx="50292" cy="713232"/>
          </a:xfrm>
          <a:prstGeom prst="rect">
            <a:avLst/>
          </a:prstGeom>
          <a:solidFill>
            <a:srgbClr val="F26522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70432" y="185623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time &amp; energy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828032" y="1691640"/>
            <a:ext cx="416052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28032" y="1691640"/>
            <a:ext cx="50292" cy="713232"/>
          </a:xfrm>
          <a:prstGeom prst="rect">
            <a:avLst/>
          </a:prstGeom>
          <a:solidFill>
            <a:srgbClr val="F26522"/>
          </a:solidFill>
          <a:ln/>
        </p:spPr>
      </p:sp>
      <p:sp>
        <p:nvSpPr>
          <p:cNvPr id="11" name="Text 9"/>
          <p:cNvSpPr/>
          <p:nvPr/>
        </p:nvSpPr>
        <p:spPr>
          <a:xfrm>
            <a:off x="4992624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541264" y="185623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presence across cities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651760"/>
            <a:ext cx="416052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651760"/>
            <a:ext cx="50292" cy="713232"/>
          </a:xfrm>
          <a:prstGeom prst="rect">
            <a:avLst/>
          </a:prstGeom>
          <a:solidFill>
            <a:srgbClr val="F26522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" y="2761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170432" y="281635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 hiring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828032" y="2651760"/>
            <a:ext cx="416052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28032" y="2651760"/>
            <a:ext cx="50292" cy="713232"/>
          </a:xfrm>
          <a:prstGeom prst="rect">
            <a:avLst/>
          </a:prstGeom>
          <a:solidFill>
            <a:srgbClr val="F26522"/>
          </a:solidFill>
          <a:ln/>
        </p:spPr>
      </p:sp>
      <p:sp>
        <p:nvSpPr>
          <p:cNvPr id="19" name="Text 17"/>
          <p:cNvSpPr/>
          <p:nvPr/>
        </p:nvSpPr>
        <p:spPr>
          <a:xfrm>
            <a:off x="4992624" y="2761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✈️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541264" y="281635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&amp; accommodation budget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3611880"/>
            <a:ext cx="82296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611880"/>
            <a:ext cx="50292" cy="713232"/>
          </a:xfrm>
          <a:prstGeom prst="rect">
            <a:avLst/>
          </a:prstGeom>
          <a:solidFill>
            <a:srgbClr val="F26522"/>
          </a:solidFill>
          <a:ln/>
        </p:spPr>
      </p:sp>
      <p:sp>
        <p:nvSpPr>
          <p:cNvPr id="23" name="Text 21"/>
          <p:cNvSpPr/>
          <p:nvPr/>
        </p:nvSpPr>
        <p:spPr>
          <a:xfrm>
            <a:off x="621792" y="3721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170432" y="377647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attribution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FFF7F0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992624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C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bitcoincierge.in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265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Bitcoincierge</a:t>
            </a:r>
            <a:endParaRPr lang="en-US" sz="68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2286000" cy="50292"/>
          </a:xfrm>
          <a:prstGeom prst="rect">
            <a:avLst/>
          </a:prstGeom>
          <a:solidFill>
            <a:srgbClr val="F2652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8745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IRL Event and Community Management.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Bitcoin brands. In India.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8803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e m o s .   W o r k s h o p s .   M e e t u p s 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93192"/>
          </a:xfrm>
          <a:prstGeom prst="rect">
            <a:avLst/>
          </a:prstGeom>
          <a:solidFill>
            <a:srgbClr val="FFF7F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773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SofB Accelerator Pitch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u r   S o l u t i o n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411480" y="502920"/>
            <a:ext cx="50292" cy="1078992"/>
          </a:xfrm>
          <a:prstGeom prst="rect">
            <a:avLst/>
          </a:prstGeom>
          <a:solidFill>
            <a:srgbClr val="F26522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502920"/>
            <a:ext cx="8046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IRL event &amp; community management</a:t>
            </a:r>
            <a:endParaRPr lang="en-US" sz="3000" dirty="0"/>
          </a:p>
          <a:p>
            <a:pPr algn="l" indent="0" marL="0">
              <a:buNone/>
            </a:pPr>
            <a:r>
              <a:rPr lang="en-US" sz="30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 a service — for Bitcoin brands.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96596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92024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48640" y="315468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 &amp; Logistics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42032" y="1691640"/>
            <a:ext cx="196596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33472" y="192024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2633472" y="315468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Audience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26864" y="1691640"/>
            <a:ext cx="196596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18304" y="192024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4718304" y="315468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Mentors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711696" y="1691640"/>
            <a:ext cx="196596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03136" y="192024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5200" dirty="0"/>
          </a:p>
        </p:txBody>
      </p:sp>
      <p:sp>
        <p:nvSpPr>
          <p:cNvPr id="16" name="Text 14"/>
          <p:cNvSpPr/>
          <p:nvPr/>
        </p:nvSpPr>
        <p:spPr>
          <a:xfrm>
            <a:off x="6803136" y="315468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Reports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FFF7F0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992624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C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bitcoincierge.in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i t c o i n   m e n t o r s   a n d   c o m m u n i t y   a r e   s e e d e d   i n   m a j o r   c i t i e s</a:t>
            </a:r>
            <a:endParaRPr lang="en-US" sz="8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42977"/>
            <a:ext cx="6350508" cy="58256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030675" y="1536192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240987" y="1563624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102559" y="2672791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2096719" y="2700223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Ahmedabad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3298241" y="3098902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2292401" y="3126334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407054" y="3595421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2401214" y="3622853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664354" y="3374136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874666" y="3401568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114800" y="3814877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4325112" y="3842309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454957" y="4298594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4665269" y="432602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Chennai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228600" y="21945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F265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Cities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i="1" dirty="0">
                <a:solidFill>
                  <a:srgbClr val="F265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Active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91440" y="31089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 present, community active,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C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run activations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91440" y="3977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 to</a:t>
            </a:r>
            <a:endParaRPr lang="en-US" sz="8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cities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FFF7F0"/>
          </a:solidFill>
          <a:ln/>
        </p:spPr>
      </p:sp>
      <p:sp>
        <p:nvSpPr>
          <p:cNvPr id="22" name="Text 19"/>
          <p:cNvSpPr/>
          <p:nvPr/>
        </p:nvSpPr>
        <p:spPr>
          <a:xfrm>
            <a:off x="457200" y="4992624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C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bitcoincierge.in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FEF0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389120" cy="6400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743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📱 📱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🤖 🤖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📲 📲 📲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2834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AI-generated content flood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32186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Crypto ad restrictions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360273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Doomscrolling &amp; fatigue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398678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Low ROAS, high burnout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15968" y="0"/>
            <a:ext cx="64008" cy="5143500"/>
          </a:xfrm>
          <a:prstGeom prst="rect">
            <a:avLst/>
          </a:prstGeom>
          <a:solidFill>
            <a:srgbClr val="F26522"/>
          </a:solidFill>
          <a:ln/>
        </p:spPr>
      </p:sp>
      <p:sp>
        <p:nvSpPr>
          <p:cNvPr id="11" name="Text 9"/>
          <p:cNvSpPr/>
          <p:nvPr/>
        </p:nvSpPr>
        <p:spPr>
          <a:xfrm>
            <a:off x="4023360" y="23317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265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663440" y="2743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63440" y="777240"/>
            <a:ext cx="4114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🙌 🙌 🙌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🤝 🤝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⚡ ⚡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663440" y="278892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pendulum is swinging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 offline.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63440" y="3657600"/>
            <a:ext cx="41148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want to meet in person. They want to hold the hardware. They want to feel the experience — not scroll past another post about it.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h e   M a r k e t   A n d   T r a c t i o n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411480" y="475488"/>
            <a:ext cx="50292" cy="1005840"/>
          </a:xfrm>
          <a:prstGeom prst="rect">
            <a:avLst/>
          </a:prstGeom>
          <a:solidFill>
            <a:srgbClr val="F26522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475488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 is open to Bitcoin products.</a:t>
            </a:r>
            <a:endParaRPr lang="en-US" sz="2800" dirty="0"/>
          </a:p>
          <a:p>
            <a:pPr algn="l" indent="0" marL="0">
              <a:buNone/>
            </a:pPr>
            <a:r>
              <a:rPr lang="en-US" sz="28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are just getting started.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64208"/>
            <a:ext cx="2633472" cy="126187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21792" y="1737360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i="1" dirty="0">
                <a:solidFill>
                  <a:srgbClr val="F265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1B+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21792" y="23957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Indians reachable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C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IRL activations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73552" y="1664208"/>
            <a:ext cx="2633472" cy="126187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38144" y="1737360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i="1" dirty="0">
                <a:solidFill>
                  <a:srgbClr val="F265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/ 97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438144" y="23957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Tier-1 cities and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C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Tier-2 cities in India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089904" y="1664208"/>
            <a:ext cx="2633472" cy="126187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54496" y="1737360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i="1" dirty="0">
                <a:solidFill>
                  <a:srgbClr val="F265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200+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254496" y="23957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products &amp;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C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usable in India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2633472" cy="126187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1792" y="3182112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i="1" dirty="0">
                <a:solidFill>
                  <a:srgbClr val="F265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2,000+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21792" y="3840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community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C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73552" y="3108960"/>
            <a:ext cx="2633472" cy="126187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438144" y="3182112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i="1" dirty="0">
                <a:solidFill>
                  <a:srgbClr val="F265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/ 1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3438144" y="3840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Tier-1 and Tier-2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C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we cover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089904" y="3108960"/>
            <a:ext cx="2633472" cy="126187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54496" y="3182112"/>
            <a:ext cx="2286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i="1" dirty="0">
                <a:solidFill>
                  <a:srgbClr val="F265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6254496" y="3840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brand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C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FFF7F0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992624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C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bitcoincierge.in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o - t o - M a r k e t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411480" y="475488"/>
            <a:ext cx="50292" cy="749808"/>
          </a:xfrm>
          <a:prstGeom prst="rect">
            <a:avLst/>
          </a:prstGeom>
          <a:solidFill>
            <a:srgbClr val="F26522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475488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 intro → Proof of work → Expand.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7472" y="1371600"/>
            <a:ext cx="1572768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371600"/>
            <a:ext cx="1572768" cy="50292"/>
          </a:xfrm>
          <a:prstGeom prst="rect">
            <a:avLst/>
          </a:prstGeom>
          <a:solidFill>
            <a:srgbClr val="F26522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1508760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38912" y="2103120"/>
            <a:ext cx="13898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intro or cold outreach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039112" y="1371600"/>
            <a:ext cx="1572768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039112" y="1371600"/>
            <a:ext cx="1572768" cy="50292"/>
          </a:xfrm>
          <a:prstGeom prst="rect">
            <a:avLst/>
          </a:prstGeom>
          <a:solidFill>
            <a:srgbClr val="F26522"/>
          </a:solidFill>
          <a:ln/>
        </p:spPr>
      </p:sp>
      <p:sp>
        <p:nvSpPr>
          <p:cNvPr id="11" name="Text 9"/>
          <p:cNvSpPr/>
          <p:nvPr/>
        </p:nvSpPr>
        <p:spPr>
          <a:xfrm>
            <a:off x="2130552" y="1508760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130552" y="2103120"/>
            <a:ext cx="13898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for First Pilot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730752" y="1371600"/>
            <a:ext cx="1572768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730752" y="1371600"/>
            <a:ext cx="1572768" cy="50292"/>
          </a:xfrm>
          <a:prstGeom prst="rect">
            <a:avLst/>
          </a:prstGeom>
          <a:solidFill>
            <a:srgbClr val="F26522"/>
          </a:solidFill>
          <a:ln/>
        </p:spPr>
      </p:sp>
      <p:sp>
        <p:nvSpPr>
          <p:cNvPr id="15" name="Text 13"/>
          <p:cNvSpPr/>
          <p:nvPr/>
        </p:nvSpPr>
        <p:spPr>
          <a:xfrm>
            <a:off x="3822192" y="1508760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822192" y="2103120"/>
            <a:ext cx="13898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event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22392" y="1371600"/>
            <a:ext cx="1572768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22392" y="1371600"/>
            <a:ext cx="1572768" cy="50292"/>
          </a:xfrm>
          <a:prstGeom prst="rect">
            <a:avLst/>
          </a:prstGeom>
          <a:solidFill>
            <a:srgbClr val="F26522"/>
          </a:solidFill>
          <a:ln/>
        </p:spPr>
      </p:sp>
      <p:sp>
        <p:nvSpPr>
          <p:cNvPr id="19" name="Text 17"/>
          <p:cNvSpPr/>
          <p:nvPr/>
        </p:nvSpPr>
        <p:spPr>
          <a:xfrm>
            <a:off x="5513832" y="1508760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513832" y="2103120"/>
            <a:ext cx="13898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activation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114032" y="1371600"/>
            <a:ext cx="1572768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114032" y="1371600"/>
            <a:ext cx="1572768" cy="50292"/>
          </a:xfrm>
          <a:prstGeom prst="rect">
            <a:avLst/>
          </a:prstGeom>
          <a:solidFill>
            <a:srgbClr val="F26522"/>
          </a:solidFill>
          <a:ln/>
        </p:spPr>
      </p:sp>
      <p:sp>
        <p:nvSpPr>
          <p:cNvPr id="23" name="Text 21"/>
          <p:cNvSpPr/>
          <p:nvPr/>
        </p:nvSpPr>
        <p:spPr>
          <a:xfrm>
            <a:off x="7205472" y="1508760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205472" y="2103120"/>
            <a:ext cx="138988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Retainer &amp; revenue share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FFF7F0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992624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C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bitcoincierge.in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300" kern="0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u s i n e s s   M o d e l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411480" y="475488"/>
            <a:ext cx="50292" cy="749808"/>
          </a:xfrm>
          <a:prstGeom prst="rect">
            <a:avLst/>
          </a:prstGeom>
          <a:solidFill>
            <a:srgbClr val="F26522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475488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charge brands. Not participants.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1148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1572768"/>
            <a:ext cx="868680" cy="292608"/>
          </a:xfrm>
          <a:prstGeom prst="rect">
            <a:avLst/>
          </a:prstGeom>
          <a:solidFill>
            <a:srgbClr val="D6E4EF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57276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3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58368" y="19659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Execution Fee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" y="237744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F265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₹15,000 – ₹20,000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58368" y="29535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event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58368" y="33375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60120" y="33375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3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 booking &amp; management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58368" y="3611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60120" y="36118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3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/ speaker time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58368" y="3886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60120" y="38862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3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Snacks, logistics, ops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58368" y="41605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60120" y="41605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3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Post-event summary report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00600" y="1371600"/>
            <a:ext cx="41148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01768" y="1572768"/>
            <a:ext cx="868680" cy="292608"/>
          </a:xfrm>
          <a:prstGeom prst="rect">
            <a:avLst/>
          </a:prstGeom>
          <a:solidFill>
            <a:srgbClr val="FAD9C8"/>
          </a:solidFill>
          <a:ln/>
        </p:spPr>
      </p:sp>
      <p:sp>
        <p:nvSpPr>
          <p:cNvPr id="21" name="Text 19"/>
          <p:cNvSpPr/>
          <p:nvPr/>
        </p:nvSpPr>
        <p:spPr>
          <a:xfrm>
            <a:off x="5001768" y="157276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8A3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001768" y="19659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/ Revenue Share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01768" y="237744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F265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0.5% – 2%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5001768" y="29535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attributed sales or activations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01768" y="33375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303520" y="33375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3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completions / deposits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001768" y="3611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303520" y="36118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3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wallet sales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001768" y="3886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303520" y="38862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3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/ custody product sign-ups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001768" y="41605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303520" y="41605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3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Referrals through mentor network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FFF7F0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4992624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8C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bitcoincierge.in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265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Getbit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4389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8C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Bitcoin-only exchange from India. 200+ attendees across meetups powered by Bitcoincierge.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bitcoincierge.in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265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Zebpay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4389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8C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leading crypto exchange. Hosted meetups across Mumbai and Delhi, reaching hundreds of attendees.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bitcoincierge.in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265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Jetking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4389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8C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Reached thousands through in-person meetups and online streams, spreading their Bitcoin treasury story to potential investors.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bitcoincierge.in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265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Ourpool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4389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8C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meetups across Bangalore, Mumbai, and Delhi. Partners and ecosystem providers onboarded to their Bitcoin Mining Academy in Goa, culminating in a paid 30+ attendee cohort.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bitcoincierge.in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265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Bitasha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4389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8C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Piloted first meetup, sold 5+ BitAxe through Delhi meetup and warmed attendees to visit them at Bitplebs.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bitcoincierge.in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265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Cryobrick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4389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8C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user activation through meetups in Goa. Onboarded senior Bitcoiners as beta testers for v1 of the app.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bitcoincierge.in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bitcoincierge.in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Bitcoincierge Pitch Deck — Week 11</dc:title>
  <dc:subject>PptxGenJS Presentation</dc:subject>
  <dc:creator>Bitcoincierge</dc:creator>
  <cp:lastModifiedBy>Bitcoincierge</cp:lastModifiedBy>
  <cp:revision>1</cp:revision>
  <dcterms:created xsi:type="dcterms:W3CDTF">2026-04-03T11:46:07Z</dcterms:created>
  <dcterms:modified xsi:type="dcterms:W3CDTF">2026-04-03T11:46:07Z</dcterms:modified>
</cp:coreProperties>
</file>